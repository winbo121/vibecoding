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0" showSpecialPlsOnTitleSld="0">
  <p:sldMasterIdLst>
    <p:sldMasterId id="2147483663" r:id="rId1"/>
    <p:sldMasterId id="2147483671" r:id="rId2"/>
  </p:sldMasterIdLst>
  <p:notesMasterIdLst>
    <p:notesMasterId r:id="rId3"/>
  </p:notesMasterIdLst>
  <p:handoutMasterIdLst>
    <p:handoutMasterId r:id="rId4"/>
  </p:handoutMasterIdLst>
  <p:sldIdLst>
    <p:sldId id="2147471425" r:id="rId5"/>
    <p:sldId id="2147471426" r:id="rId6"/>
    <p:sldId id="2147471427" r:id="rId7"/>
    <p:sldId id="2147471428" r:id="rId8"/>
    <p:sldId id="2147471429" r:id="rId9"/>
    <p:sldId id="2147471430" r:id="rId10"/>
    <p:sldId id="2147471431" r:id="rId11"/>
    <p:sldId id="2147471432" r:id="rId12"/>
    <p:sldId id="2147471433" r:id="rId13"/>
    <p:sldId id="2147471434" r:id="rId14"/>
    <p:sldId id="2147471435" r:id="rId15"/>
    <p:sldId id="2147471436" r:id="rId16"/>
    <p:sldId id="2147471437" r:id="rId17"/>
    <p:sldId id="2147471438" r:id="rId18"/>
    <p:sldId id="2147471439" r:id="rId19"/>
    <p:sldId id="2147471440" r:id="rId20"/>
    <p:sldId id="2147471441" r:id="rId21"/>
    <p:sldId id="2147471442" r:id="rId22"/>
    <p:sldId id="2147471443" r:id="rId23"/>
    <p:sldId id="2147471444" r:id="rId24"/>
    <p:sldId id="2147471445" r:id="rId25"/>
    <p:sldId id="2147471446" r:id="rId26"/>
    <p:sldId id="2147471447" r:id="rId27"/>
    <p:sldId id="2147471448" r:id="rId28"/>
    <p:sldId id="2147471449" r:id="rId29"/>
    <p:sldId id="2147471450" r:id="rId30"/>
    <p:sldId id="2147471451" r:id="rId31"/>
    <p:sldId id="2147471452" r:id="rId32"/>
    <p:sldId id="2147471453" r:id="rId33"/>
    <p:sldId id="2147471454" r:id="rId34"/>
  </p:sldIdLst>
  <p:sldSz cx="9906000" cy="6858000" type="A4"/>
  <p:notesSz cx="6805613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/>
        <a:ea typeface="굴림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/>
        <a:ea typeface="굴림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/>
        <a:ea typeface="굴림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/>
        <a:ea typeface="굴림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/>
        <a:ea typeface="굴림"/>
        <a:cs typeface="+mn-cs"/>
      </a:defRPr>
    </a:lvl5pPr>
    <a:lvl6pPr marL="2286000" algn="l" defTabSz="914400" rtl="0" eaLnBrk="1" latinLnBrk="1" hangingPunct="1">
      <a:defRPr kumimoji="1" sz="1200" b="1" kern="1200">
        <a:solidFill>
          <a:schemeClr val="tx1"/>
        </a:solidFill>
        <a:latin typeface="Arial"/>
        <a:ea typeface="굴림"/>
        <a:cs typeface="+mn-cs"/>
      </a:defRPr>
    </a:lvl6pPr>
    <a:lvl7pPr marL="2743200" algn="l" defTabSz="914400" rtl="0" eaLnBrk="1" latinLnBrk="1" hangingPunct="1">
      <a:defRPr kumimoji="1" sz="1200" b="1" kern="1200">
        <a:solidFill>
          <a:schemeClr val="tx1"/>
        </a:solidFill>
        <a:latin typeface="Arial"/>
        <a:ea typeface="굴림"/>
        <a:cs typeface="+mn-cs"/>
      </a:defRPr>
    </a:lvl7pPr>
    <a:lvl8pPr marL="3200400" algn="l" defTabSz="914400" rtl="0" eaLnBrk="1" latinLnBrk="1" hangingPunct="1">
      <a:defRPr kumimoji="1" sz="1200" b="1" kern="1200">
        <a:solidFill>
          <a:schemeClr val="tx1"/>
        </a:solidFill>
        <a:latin typeface="Arial"/>
        <a:ea typeface="굴림"/>
        <a:cs typeface="+mn-cs"/>
      </a:defRPr>
    </a:lvl8pPr>
    <a:lvl9pPr marL="3657600" algn="l" defTabSz="914400" rtl="0" eaLnBrk="1" latinLnBrk="1" hangingPunct="1">
      <a:defRPr kumimoji="1" sz="1200" b="1" kern="1200">
        <a:solidFill>
          <a:schemeClr val="tx1"/>
        </a:solidFill>
        <a:latin typeface="Arial"/>
        <a:ea typeface="굴림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8FE3E8FA-F9FF-44F6-A199-1A445CD2BACF}" name="기본 구역">
          <p14:sldIdLst>
            <p14:sldId id="2147471425"/>
            <p14:sldId id="2147471426"/>
            <p14:sldId id="2147471427"/>
            <p14:sldId id="2147471428"/>
            <p14:sldId id="2147471429"/>
            <p14:sldId id="2147471430"/>
            <p14:sldId id="2147471431"/>
            <p14:sldId id="2147471432"/>
            <p14:sldId id="2147471433"/>
            <p14:sldId id="2147471434"/>
            <p14:sldId id="2147471435"/>
            <p14:sldId id="2147471436"/>
            <p14:sldId id="2147471437"/>
            <p14:sldId id="2147471438"/>
            <p14:sldId id="2147471439"/>
            <p14:sldId id="2147471440"/>
            <p14:sldId id="2147471441"/>
            <p14:sldId id="2147471442"/>
            <p14:sldId id="2147471443"/>
            <p14:sldId id="2147471444"/>
            <p14:sldId id="2147471445"/>
            <p14:sldId id="2147471446"/>
            <p14:sldId id="2147471447"/>
            <p14:sldId id="2147471448"/>
            <p14:sldId id="2147471449"/>
            <p14:sldId id="2147471450"/>
            <p14:sldId id="2147471451"/>
            <p14:sldId id="2147471452"/>
            <p14:sldId id="2147471453"/>
            <p14:sldId id="2147471454"/>
          </p14:sldIdLst>
        </p14:section>
        <p14:section id="{402335AE-EA46-4669-99BA-B3926A576A07}" name="제목 없는 구역">
          <p14:sldIdLst/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8027" autoAdjust="0"/>
    <p:restoredTop sz="95039" autoAdjust="0"/>
  </p:normalViewPr>
  <p:slideViewPr>
    <p:cSldViewPr snapToObjects="1">
      <p:cViewPr varScale="1">
        <p:scale>
          <a:sx n="100" d="100"/>
          <a:sy n="100" d="100"/>
        </p:scale>
        <p:origin x="1458" y="114"/>
      </p:cViewPr>
      <p:guideLst>
        <p:guide orient="horz" pos="548"/>
        <p:guide orient="horz" pos="4131"/>
        <p:guide pos="31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>
        <p:scale>
          <a:sx n="100" d="100"/>
          <a:sy n="100" d="100"/>
        </p:scale>
        <p:origin x="3564" y="-1386"/>
      </p:cViewPr>
      <p:guideLst>
        <p:guide orient="horz" pos="3132"/>
        <p:guide pos="2142"/>
      </p:guideLst>
    </p:cSldViewPr>
  </p:notesViewPr>
  <p:gridSpacing cx="36004" cy="36004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6.xml"  /><Relationship Id="rId11" Type="http://schemas.openxmlformats.org/officeDocument/2006/relationships/slide" Target="slides/slide7.xml"  /><Relationship Id="rId12" Type="http://schemas.openxmlformats.org/officeDocument/2006/relationships/slide" Target="slides/slide8.xml"  /><Relationship Id="rId13" Type="http://schemas.openxmlformats.org/officeDocument/2006/relationships/slide" Target="slides/slide9.xml"  /><Relationship Id="rId14" Type="http://schemas.openxmlformats.org/officeDocument/2006/relationships/slide" Target="slides/slide10.xml"  /><Relationship Id="rId15" Type="http://schemas.openxmlformats.org/officeDocument/2006/relationships/slide" Target="slides/slide11.xml"  /><Relationship Id="rId16" Type="http://schemas.openxmlformats.org/officeDocument/2006/relationships/slide" Target="slides/slide12.xml"  /><Relationship Id="rId17" Type="http://schemas.openxmlformats.org/officeDocument/2006/relationships/slide" Target="slides/slide13.xml"  /><Relationship Id="rId18" Type="http://schemas.openxmlformats.org/officeDocument/2006/relationships/slide" Target="slides/slide14.xml"  /><Relationship Id="rId19" Type="http://schemas.openxmlformats.org/officeDocument/2006/relationships/slide" Target="slides/slide15.xml"  /><Relationship Id="rId2" Type="http://schemas.openxmlformats.org/officeDocument/2006/relationships/slideMaster" Target="slideMasters/slideMaster2.xml"  /><Relationship Id="rId20" Type="http://schemas.openxmlformats.org/officeDocument/2006/relationships/slide" Target="slides/slide16.xml"  /><Relationship Id="rId21" Type="http://schemas.openxmlformats.org/officeDocument/2006/relationships/slide" Target="slides/slide17.xml"  /><Relationship Id="rId22" Type="http://schemas.openxmlformats.org/officeDocument/2006/relationships/slide" Target="slides/slide18.xml"  /><Relationship Id="rId23" Type="http://schemas.openxmlformats.org/officeDocument/2006/relationships/slide" Target="slides/slide19.xml"  /><Relationship Id="rId24" Type="http://schemas.openxmlformats.org/officeDocument/2006/relationships/slide" Target="slides/slide20.xml"  /><Relationship Id="rId25" Type="http://schemas.openxmlformats.org/officeDocument/2006/relationships/slide" Target="slides/slide21.xml"  /><Relationship Id="rId26" Type="http://schemas.openxmlformats.org/officeDocument/2006/relationships/slide" Target="slides/slide22.xml"  /><Relationship Id="rId27" Type="http://schemas.openxmlformats.org/officeDocument/2006/relationships/slide" Target="slides/slide23.xml"  /><Relationship Id="rId28" Type="http://schemas.openxmlformats.org/officeDocument/2006/relationships/slide" Target="slides/slide24.xml"  /><Relationship Id="rId29" Type="http://schemas.openxmlformats.org/officeDocument/2006/relationships/slide" Target="slides/slide25.xml"  /><Relationship Id="rId3" Type="http://schemas.openxmlformats.org/officeDocument/2006/relationships/notesMaster" Target="notesMasters/notesMaster1.xml"  /><Relationship Id="rId30" Type="http://schemas.openxmlformats.org/officeDocument/2006/relationships/slide" Target="slides/slide26.xml"  /><Relationship Id="rId31" Type="http://schemas.openxmlformats.org/officeDocument/2006/relationships/slide" Target="slides/slide27.xml"  /><Relationship Id="rId32" Type="http://schemas.openxmlformats.org/officeDocument/2006/relationships/slide" Target="slides/slide28.xml"  /><Relationship Id="rId33" Type="http://schemas.openxmlformats.org/officeDocument/2006/relationships/slide" Target="slides/slide29.xml"  /><Relationship Id="rId34" Type="http://schemas.openxmlformats.org/officeDocument/2006/relationships/slide" Target="slides/slide30.xml"  /><Relationship Id="rId35" Type="http://schemas.openxmlformats.org/officeDocument/2006/relationships/presProps" Target="presProps.xml"  /><Relationship Id="rId36" Type="http://schemas.openxmlformats.org/officeDocument/2006/relationships/viewProps" Target="viewProps.xml"  /><Relationship Id="rId37" Type="http://schemas.openxmlformats.org/officeDocument/2006/relationships/theme" Target="theme/theme1.xml"  /><Relationship Id="rId38" Type="http://schemas.openxmlformats.org/officeDocument/2006/relationships/tableStyles" Target="tableStyles.xml"  /><Relationship Id="rId4" Type="http://schemas.openxmlformats.org/officeDocument/2006/relationships/handoutMaster" Target="handoutMasters/handoutMaster1.xml"  /><Relationship Id="rId5" Type="http://schemas.openxmlformats.org/officeDocument/2006/relationships/slide" Target="slides/slide1.xml"  /><Relationship Id="rId6" Type="http://schemas.openxmlformats.org/officeDocument/2006/relationships/slide" Target="slides/slide2.xml"  /><Relationship Id="rId7" Type="http://schemas.openxmlformats.org/officeDocument/2006/relationships/slide" Target="slides/slide3.xml"  /><Relationship Id="rId8" Type="http://schemas.openxmlformats.org/officeDocument/2006/relationships/slide" Target="slides/slide4.xml"  /><Relationship Id="rId9" Type="http://schemas.openxmlformats.org/officeDocument/2006/relationships/slide" Target="slides/slide5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4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2"/>
            <a:ext cx="2951219" cy="49887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863" tIns="46433" rIns="92863" bIns="46433" numCol="1" anchor="t" anchorCtr="0" compatLnSpc="1">
            <a:prstTxWarp prst="textNoShape">
              <a:avLst/>
            </a:prstTxWarp>
          </a:bodyPr>
          <a:lstStyle>
            <a:lvl1pPr defTabSz="930101" eaLnBrk="1" latinLnBrk="1" hangingPunct="1">
              <a:defRPr sz="1300" b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54395" y="2"/>
            <a:ext cx="2951219" cy="49887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863" tIns="46433" rIns="92863" bIns="46433" numCol="1" anchor="t" anchorCtr="0" compatLnSpc="1">
            <a:prstTxWarp prst="textNoShape">
              <a:avLst/>
            </a:prstTxWarp>
          </a:bodyPr>
          <a:lstStyle>
            <a:lvl1pPr algn="r" defTabSz="930101" eaLnBrk="1" latinLnBrk="1" hangingPunct="1">
              <a:defRPr sz="1300" b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40466"/>
            <a:ext cx="2951219" cy="49887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863" tIns="46433" rIns="92863" bIns="46433" numCol="1" anchor="b" anchorCtr="0" compatLnSpc="1">
            <a:prstTxWarp prst="textNoShape">
              <a:avLst/>
            </a:prstTxWarp>
          </a:bodyPr>
          <a:lstStyle>
            <a:lvl1pPr defTabSz="930101" eaLnBrk="1" latinLnBrk="1" hangingPunct="1">
              <a:defRPr sz="1300" b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4395" y="9440466"/>
            <a:ext cx="2951219" cy="49887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863" tIns="46433" rIns="92863" bIns="46433" numCol="1" anchor="b" anchorCtr="0" compatLnSpc="1">
            <a:prstTxWarp prst="textNoShape">
              <a:avLst/>
            </a:prstTxWarp>
          </a:bodyPr>
          <a:lstStyle>
            <a:lvl1pPr algn="r" defTabSz="929802" eaLnBrk="1" latinLnBrk="1" hangingPunct="1">
              <a:defRPr sz="1300" b="0">
                <a:latin typeface="굴림"/>
              </a:defRPr>
            </a:lvl1pPr>
          </a:lstStyle>
          <a:p>
            <a:pPr>
              <a:defRPr/>
            </a:pPr>
            <a:fld id="{0A0D970F-979D-4BCC-AF9D-5D9627BBB36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441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2"/>
            <a:ext cx="2951219" cy="49887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863" tIns="46433" rIns="92863" bIns="46433" numCol="1" anchor="t" anchorCtr="0" compatLnSpc="1">
            <a:prstTxWarp prst="textNoShape">
              <a:avLst/>
            </a:prstTxWarp>
          </a:bodyPr>
          <a:lstStyle>
            <a:lvl1pPr defTabSz="930101" eaLnBrk="1" latinLnBrk="1" hangingPunct="1">
              <a:defRPr sz="1300" b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54395" y="2"/>
            <a:ext cx="2951219" cy="49887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863" tIns="46433" rIns="92863" bIns="46433" numCol="1" anchor="t" anchorCtr="0" compatLnSpc="1">
            <a:prstTxWarp prst="textNoShape">
              <a:avLst/>
            </a:prstTxWarp>
          </a:bodyPr>
          <a:lstStyle>
            <a:lvl1pPr algn="r" defTabSz="930101" eaLnBrk="1" latinLnBrk="1" hangingPunct="1">
              <a:defRPr sz="1300" b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7550" y="744538"/>
            <a:ext cx="5384800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386395" y="4721822"/>
            <a:ext cx="6031236" cy="4472385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863" tIns="46433" rIns="92863" bIns="46433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40466"/>
            <a:ext cx="2951219" cy="49887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863" tIns="46433" rIns="92863" bIns="46433" numCol="1" anchor="b" anchorCtr="0" compatLnSpc="1">
            <a:prstTxWarp prst="textNoShape">
              <a:avLst/>
            </a:prstTxWarp>
          </a:bodyPr>
          <a:lstStyle>
            <a:lvl1pPr defTabSz="930101" eaLnBrk="1" latinLnBrk="1" hangingPunct="1">
              <a:defRPr sz="1300" b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4395" y="9440466"/>
            <a:ext cx="2951219" cy="49887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863" tIns="46433" rIns="92863" bIns="46433" numCol="1" anchor="b" anchorCtr="0" compatLnSpc="1">
            <a:prstTxWarp prst="textNoShape">
              <a:avLst/>
            </a:prstTxWarp>
          </a:bodyPr>
          <a:lstStyle>
            <a:lvl1pPr algn="r" defTabSz="929802" eaLnBrk="1" latinLnBrk="1" hangingPunct="1">
              <a:defRPr sz="1300" b="0">
                <a:latin typeface="굴림"/>
              </a:defRPr>
            </a:lvl1pPr>
          </a:lstStyle>
          <a:p>
            <a:pPr>
              <a:defRPr/>
            </a:pPr>
            <a:fld id="{24166C5C-8794-4CDC-B2D4-01BF4169547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247844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lnSpc>
        <a:spcPct val="90000"/>
      </a:lnSpc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"/>
        <a:ea typeface="굴림"/>
        <a:cs typeface="+mn-cs"/>
      </a:defRPr>
    </a:lvl1pPr>
    <a:lvl2pPr marL="190500" algn="l" rtl="0" eaLnBrk="0" fontAlgn="base" latinLnBrk="1" hangingPunct="0">
      <a:lnSpc>
        <a:spcPct val="90000"/>
      </a:lnSpc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"/>
        <a:ea typeface="굴림"/>
        <a:cs typeface="+mn-cs"/>
      </a:defRPr>
    </a:lvl2pPr>
    <a:lvl3pPr marL="381000" algn="l" rtl="0" eaLnBrk="0" fontAlgn="base" latinLnBrk="1" hangingPunct="0">
      <a:lnSpc>
        <a:spcPct val="90000"/>
      </a:lnSpc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"/>
        <a:ea typeface="굴림"/>
        <a:cs typeface="+mn-cs"/>
      </a:defRPr>
    </a:lvl3pPr>
    <a:lvl4pPr marL="571500" algn="l" rtl="0" eaLnBrk="0" fontAlgn="base" latinLnBrk="1" hangingPunct="0">
      <a:lnSpc>
        <a:spcPct val="90000"/>
      </a:lnSpc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"/>
        <a:ea typeface="굴림"/>
        <a:cs typeface="+mn-cs"/>
      </a:defRPr>
    </a:lvl4pPr>
    <a:lvl5pPr marL="762000" algn="l" rtl="0" eaLnBrk="0" fontAlgn="base" latinLnBrk="1" hangingPunct="0">
      <a:lnSpc>
        <a:spcPct val="90000"/>
      </a:lnSpc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84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9"/>
          <p:cNvSpPr>
            <a:spLocks noChangeShapeType="1"/>
          </p:cNvSpPr>
          <p:nvPr userDrawn="1"/>
        </p:nvSpPr>
        <p:spPr bwMode="auto">
          <a:xfrm>
            <a:off x="273050" y="549275"/>
            <a:ext cx="93599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694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8CB53822-2184-4EFF-8649-B3811B214295}"/>
              </a:ext>
            </a:extLst>
          </p:cNvPr>
          <p:cNvGrpSpPr/>
          <p:nvPr userDrawn="1"/>
        </p:nvGrpSpPr>
        <p:grpSpPr>
          <a:xfrm>
            <a:off x="199993" y="188914"/>
            <a:ext cx="9504427" cy="6480175"/>
            <a:chOff x="200025" y="188913"/>
            <a:chExt cx="9505950" cy="64801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C4AF8E1-C784-4222-AFE7-6806211E447A}"/>
                </a:ext>
              </a:extLst>
            </p:cNvPr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</a:endParaRPr>
            </a:p>
          </p:txBody>
        </p:sp>
        <p:pic>
          <p:nvPicPr>
            <p:cNvPr id="5" name="Picture 2" descr="C:\ECM\TEMP\부서함\Brand담당\20년 연간업무계획\디지털 그래픽 모티브 개발★\★1st Manual Official Release\Graphic Asset_v1.0\1. Main motif - Solid color\png\Main_motif-LG_red_solid.png">
              <a:extLst>
                <a:ext uri="{FF2B5EF4-FFF2-40B4-BE49-F238E27FC236}">
                  <a16:creationId xmlns:a16="http://schemas.microsoft.com/office/drawing/2014/main" id="{78CE8D73-FF7D-4FDC-9AB8-545D5904FE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/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C:\ECM\TEMP\부서함\Brand담당\20년 연간업무계획\디지털 그래픽 모티브 개발★\★1st Manual Official Release\Graphic Asset_v1.0\1. Main motif - Solid color\png\Main_motif-LG_red_solid.png">
              <a:extLst>
                <a:ext uri="{FF2B5EF4-FFF2-40B4-BE49-F238E27FC236}">
                  <a16:creationId xmlns:a16="http://schemas.microsoft.com/office/drawing/2014/main" id="{E3EA2286-BA39-436A-9359-6F7C7FD597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/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2" descr="비즈테크 로고">
            <a:extLst>
              <a:ext uri="{FF2B5EF4-FFF2-40B4-BE49-F238E27FC236}">
                <a16:creationId xmlns:a16="http://schemas.microsoft.com/office/drawing/2014/main" id="{0BE1824B-6F4C-4A6F-8F3A-4433EB394A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119" y="5060479"/>
            <a:ext cx="1207733" cy="450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95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F1560D7-D7C5-4063-85BA-3E4592C77872}"/>
              </a:ext>
            </a:extLst>
          </p:cNvPr>
          <p:cNvCxnSpPr/>
          <p:nvPr userDrawn="1"/>
        </p:nvCxnSpPr>
        <p:spPr>
          <a:xfrm>
            <a:off x="2268" y="628643"/>
            <a:ext cx="9648000" cy="0"/>
          </a:xfrm>
          <a:prstGeom prst="lin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Text Box 45">
            <a:extLst>
              <a:ext uri="{FF2B5EF4-FFF2-40B4-BE49-F238E27FC236}">
                <a16:creationId xmlns:a16="http://schemas.microsoft.com/office/drawing/2014/main" id="{9675B0A4-AF7E-44B0-B4ED-D10A95B7D2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93482" y="6635675"/>
            <a:ext cx="72146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eaLnBrk="0" latin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kumimoji="0" sz="70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0"/>
                </a:gradFill>
              </a:defRPr>
            </a:lvl1pPr>
            <a:lvl2pPr marL="742950" indent="-285750" eaLnBrk="0" latinLnBrk="1" hangingPunct="0">
              <a:lnSpc>
                <a:spcPct val="120000"/>
              </a:lnSpc>
              <a:spcBef>
                <a:spcPct val="120000"/>
              </a:spcBef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latinLnBrk="1" hangingPunct="0">
              <a:lnSpc>
                <a:spcPct val="120000"/>
              </a:lnSpc>
              <a:spcBef>
                <a:spcPct val="120000"/>
              </a:spcBef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latinLnBrk="1" hangingPunct="0">
              <a:lnSpc>
                <a:spcPct val="120000"/>
              </a:lnSpc>
              <a:spcBef>
                <a:spcPct val="120000"/>
              </a:spcBef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latinLnBrk="1" hangingPunct="0">
              <a:lnSpc>
                <a:spcPct val="120000"/>
              </a:lnSpc>
              <a:spcBef>
                <a:spcPct val="120000"/>
              </a:spcBef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defTabSz="829516">
              <a:defRPr/>
            </a:pPr>
            <a:fld id="{87DFC00B-CB69-4ABB-A5E2-7E8DF38686BC}" type="slidenum">
              <a:rPr lang="en-US" altLang="ko-KR" sz="1000" b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6F6F6F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pPr algn="ctr" defTabSz="829516">
                <a:defRPr/>
              </a:pPr>
              <a:t>‹#›</a:t>
            </a:fld>
            <a:endParaRPr lang="en-US" altLang="ko-KR" sz="1000" b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6F6F6F"/>
              </a:solidFill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E5D2E7F7-D276-47EF-8971-06B8F5BBC1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892" y="250425"/>
            <a:ext cx="7850737" cy="288000"/>
          </a:xfrm>
          <a:prstGeom prst="rect">
            <a:avLst/>
          </a:prstGeom>
        </p:spPr>
        <p:txBody>
          <a:bodyPr lIns="0" tIns="36000" rIns="0" bIns="36000" anchor="ctr"/>
          <a:lstStyle>
            <a:lvl1pPr marL="0" algn="l" defTabSz="914217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 lang="ko-KR" altLang="en-US" sz="1600" kern="0" spc="-46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+mn-cs"/>
              </a:defRPr>
            </a:lvl1pPr>
          </a:lstStyle>
          <a:p>
            <a:r>
              <a:rPr lang="ko-KR" altLang="en-US" dirty="0" err="1"/>
              <a:t>ㅇㅇ</a:t>
            </a:r>
            <a:endParaRPr lang="ko-KR" altLang="en-US" dirty="0"/>
          </a:p>
        </p:txBody>
      </p:sp>
      <p:sp>
        <p:nvSpPr>
          <p:cNvPr id="16" name="양쪽 모서리가 둥근 사각형 7">
            <a:extLst>
              <a:ext uri="{FF2B5EF4-FFF2-40B4-BE49-F238E27FC236}">
                <a16:creationId xmlns:a16="http://schemas.microsoft.com/office/drawing/2014/main" id="{7ABA966C-A7D2-4A00-8E1F-14F346C62B88}"/>
              </a:ext>
            </a:extLst>
          </p:cNvPr>
          <p:cNvSpPr/>
          <p:nvPr userDrawn="1"/>
        </p:nvSpPr>
        <p:spPr>
          <a:xfrm rot="10800000">
            <a:off x="0" y="758334"/>
            <a:ext cx="9906000" cy="4384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1" dirty="0">
              <a:latin typeface="+mj-lt"/>
              <a:ea typeface="+mn-ea"/>
            </a:endParaRPr>
          </a:p>
        </p:txBody>
      </p:sp>
      <p:sp>
        <p:nvSpPr>
          <p:cNvPr id="17" name="텍스트 개체 틀 8">
            <a:extLst>
              <a:ext uri="{FF2B5EF4-FFF2-40B4-BE49-F238E27FC236}">
                <a16:creationId xmlns:a16="http://schemas.microsoft.com/office/drawing/2014/main" id="{C8BF2EEB-1CA6-4CCE-BD66-2BB9D63817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0535" y="799680"/>
            <a:ext cx="9352415" cy="612001"/>
          </a:xfrm>
          <a:prstGeom prst="rect">
            <a:avLst/>
          </a:prstGeom>
          <a:noFill/>
        </p:spPr>
        <p:txBody>
          <a:bodyPr lIns="0" tIns="36000" rIns="0" bIns="36000" anchor="t" anchorCtr="0"/>
          <a:lstStyle>
            <a:lvl1pPr marL="0" indent="0" algn="l" defTabSz="914217" rtl="0" eaLnBrk="1" fontAlgn="base" latinLnBrk="0" hangingPunct="1">
              <a:lnSpc>
                <a:spcPts val="2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None/>
              <a:defRPr lang="ko-KR" altLang="en-US" sz="1400" kern="0" spc="-46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 err="1"/>
              <a:t>ㅇㅇ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742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13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theme" Target="../theme/theme1.xml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slideLayout" Target="../slideLayouts/slideLayout4.xml"  /><Relationship Id="rId3" Type="http://schemas.openxmlformats.org/officeDocument/2006/relationships/theme" Target="../theme/theme2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Narrow" panose="020B0606020202030204" pitchFamily="34" charset="0"/>
          <a:ea typeface="LG스마트체 Regular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Narrow" panose="020B0606020202030204" pitchFamily="34" charset="0"/>
          <a:ea typeface="LG스마트체 Regular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Narrow" panose="020B0606020202030204" pitchFamily="34" charset="0"/>
          <a:ea typeface="LG스마트체 Regular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Narrow" panose="020B0606020202030204" pitchFamily="34" charset="0"/>
          <a:ea typeface="LG스마트체 Regular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68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9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0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1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2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3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4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5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6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7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8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9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0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1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2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783285-5688-40B2-8F35-E7EE6AF919D5}"/>
              </a:ext>
            </a:extLst>
          </p:cNvPr>
          <p:cNvSpPr txBox="1"/>
          <p:nvPr/>
        </p:nvSpPr>
        <p:spPr>
          <a:xfrm>
            <a:off x="1098298" y="1435196"/>
            <a:ext cx="8561750" cy="505355"/>
          </a:xfrm>
          <a:prstGeom prst="rect">
            <a:avLst/>
          </a:prstGeom>
        </p:spPr>
        <p:txBody>
          <a:bodyPr wrap="square" lIns="3600" tIns="3600" rIns="3600" bIns="36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/>
                <a:solidFill>
                  <a:prstClr val="black"/>
                </a:solidFill>
                <a:effectLst/>
                <a:uLnTx/>
                <a:uFillTx/>
                <a:latin typeface="LG스마트체 Bold" panose="020B0600000101010101" pitchFamily="50" charset="-127"/>
                <a:ea typeface="LG스마트체 Bold" panose="020B0600000101010101" pitchFamily="50" charset="-127"/>
                <a:cs typeface="Pretendard Light" panose="02000403000000020004" pitchFamily="50" charset="-127"/>
              </a:rPr>
              <a:t>바이브</a:t>
            </a:r>
            <a:r>
              <a:rPr kumimoji="0" lang="ko-KR" altLang="en-US" sz="2000" b="1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G스마트체 Bold" panose="020B0600000101010101" pitchFamily="50" charset="-127"/>
                <a:ea typeface="LG스마트체 Bold" panose="020B0600000101010101" pitchFamily="50" charset="-127"/>
                <a:cs typeface="Pretendard Light" panose="02000403000000020004" pitchFamily="50" charset="-127"/>
              </a:rPr>
              <a:t> 코딩 경험 확산 개인과제 이행결과</a:t>
            </a:r>
            <a:r>
              <a:rPr kumimoji="0" lang="en-US" altLang="ko-KR" sz="2000" b="1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G스마트체 Bold" panose="020B0600000101010101" pitchFamily="50" charset="-127"/>
                <a:ea typeface="LG스마트체 Bold" panose="020B0600000101010101" pitchFamily="50" charset="-127"/>
                <a:cs typeface="Pretendard Light" panose="02000403000000020004" pitchFamily="50" charset="-127"/>
              </a:rPr>
              <a:t>/</a:t>
            </a:r>
            <a:r>
              <a:rPr kumimoji="0" lang="ko-KR" altLang="en-US" sz="2000" b="1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G스마트체 Bold" panose="020B0600000101010101" pitchFamily="50" charset="-127"/>
                <a:ea typeface="LG스마트체 Bold" panose="020B0600000101010101" pitchFamily="50" charset="-127"/>
                <a:cs typeface="Pretendard Light" panose="02000403000000020004" pitchFamily="50" charset="-127"/>
              </a:rPr>
              <a:t>내역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4CAC6-68BB-4609-A3B0-BE8FB18342FF}"/>
              </a:ext>
            </a:extLst>
          </p:cNvPr>
          <p:cNvSpPr txBox="1"/>
          <p:nvPr/>
        </p:nvSpPr>
        <p:spPr>
          <a:xfrm>
            <a:off x="1098298" y="2096101"/>
            <a:ext cx="8561750" cy="584351"/>
          </a:xfrm>
          <a:prstGeom prst="rect">
            <a:avLst/>
          </a:prstGeom>
        </p:spPr>
        <p:txBody>
          <a:bodyPr wrap="square" lIns="3600" tIns="3600" rIns="3600" bIns="36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dirty="0">
                <a:ln/>
                <a:solidFill>
                  <a:prstClr val="black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Pretendard Light" panose="02000403000000020004" pitchFamily="50" charset="-127"/>
              </a:rPr>
              <a:t>DevHaven</a:t>
            </a:r>
            <a:r>
              <a:rPr kumimoji="0" lang="ko-KR" altLang="en-US" sz="4000" dirty="0">
                <a:ln/>
                <a:solidFill>
                  <a:prstClr val="black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Pretendard Light" panose="02000403000000020004" pitchFamily="50" charset="-127"/>
              </a:rPr>
              <a:t> 개발자 쉼터</a:t>
            </a:r>
            <a:r>
              <a:rPr kumimoji="0" lang="en-US" altLang="ko-KR" sz="4000" dirty="0">
                <a:ln/>
                <a:solidFill>
                  <a:prstClr val="black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Pretendard Light" panose="02000403000000020004" pitchFamily="50" charset="-127"/>
              </a:rPr>
              <a:t/>
            </a:r>
            <a:endParaRPr kumimoji="0" lang="ko-KR" altLang="en-US" sz="4000" b="1" i="0" u="none" strike="noStrike" kern="1200" cap="none" spc="0" normalizeH="0" baseline="0" noProof="0" dirty="0">
              <a:ln/>
              <a:solidFill>
                <a:prstClr val="black"/>
              </a:solidFill>
              <a:effectLst/>
              <a:uLnTx/>
              <a:uFillTx/>
              <a:latin typeface="LG스마트체 Bold" panose="020B0600000101010101" pitchFamily="50" charset="-127"/>
              <a:ea typeface="LG스마트체 Bold" panose="020B0600000101010101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A2A25-A3DE-399B-561F-E878A1E7EEF5}"/>
              </a:ext>
            </a:extLst>
          </p:cNvPr>
          <p:cNvSpPr txBox="1"/>
          <p:nvPr/>
        </p:nvSpPr>
        <p:spPr>
          <a:xfrm>
            <a:off x="1098298" y="5082107"/>
            <a:ext cx="1238250" cy="253492"/>
          </a:xfrm>
          <a:prstGeom prst="rect">
            <a:avLst/>
          </a:prstGeom>
        </p:spPr>
        <p:txBody>
          <a:bodyPr wrap="square" lIns="3600" tIns="3600" rIns="3600" bIns="3600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0"/>
              </a:spcBef>
              <a:defRPr sz="3200" b="1">
                <a:ln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>2026.09.30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EF1B5-CAE4-1E22-5FF3-C65E2A2D7EFF}"/>
              </a:ext>
            </a:extLst>
          </p:cNvPr>
          <p:cNvSpPr txBox="1"/>
          <p:nvPr/>
        </p:nvSpPr>
        <p:spPr>
          <a:xfrm>
            <a:off x="6573180" y="3505351"/>
            <a:ext cx="2448271" cy="499713"/>
          </a:xfrm>
          <a:prstGeom prst="rect">
            <a:avLst/>
          </a:prstGeom>
        </p:spPr>
        <p:txBody>
          <a:bodyPr wrap="square" lIns="3600" tIns="3600" rIns="3600" bIns="3600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0"/>
              </a:spcBef>
              <a:defRPr sz="3200" b="1">
                <a:ln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>(</a:t>
            </a:r>
            <a:r>
              <a:rPr kumimoji="0" lang="en-US" altLang="ko-KR" sz="1600" dirty="0">
                <a:ln>
                  <a:noFill/>
                </a:ln>
                <a:solidFill>
                  <a:prstClr val="black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DX3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>)</a:t>
            </a:r>
            <a:b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</a:b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> 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>DX사업팀 김재훈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/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/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/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/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/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8298" y="2860000"/>
            <a:ext cx="7600000" cy="360000"/>
          </a:xfrm>
          <a:prstGeom prst="rect">
            <a:avLst/>
          </a:prstGeom>
          <a:noFill/>
        </p:spPr>
        <p:txBody>
          <a:bodyPr wrap="square" lIns="40000" rIns="40000" anchor="t"/>
          <a:lstStyle/>
          <a:p>
            <a:pPr algn="l">
              <a:spcBef>
                <a:spcPts val="0"/>
              </a:spcBef>
              <a:spcAft>
                <a:spcPts val="200"/>
              </a:spcAft>
              <a:defRPr/>
            </a:pPr>
            <a:r>
              <a:rPr lang="ko-KR" altLang="en-US" sz="1600" b="0">
                <a:solidFill>
                  <a:srgbClr val="44546a"/>
                </a:solidFill>
                <a:latin typeface="LG스마트체2.0 Regular"/>
                <a:ea typeface="LG스마트체2.0 Regular"/>
                <a:cs typeface="LG스마트체2.0 Regular"/>
              </a:rPr>
              <a:t>깃허브주소 </a:t>
            </a:r>
            <a:r>
              <a:rPr lang="en-US" altLang="ko-KR" sz="1600" b="0">
                <a:solidFill>
                  <a:srgbClr val="44546a"/>
                </a:solidFill>
                <a:latin typeface="LG스마트체2.0 Regular"/>
                <a:ea typeface="LG스마트체2.0 Regular"/>
                <a:cs typeface="LG스마트체2.0 Regular"/>
              </a:rPr>
              <a:t>:</a:t>
            </a:r>
            <a:r>
              <a:rPr lang="ko-KR" altLang="en-US" sz="1600" b="0">
                <a:solidFill>
                  <a:srgbClr val="44546a"/>
                </a:solidFill>
                <a:latin typeface="LG스마트체2.0 Regular"/>
                <a:ea typeface="LG스마트체2.0 Regular"/>
                <a:cs typeface="LG스마트체2.0 Regular"/>
              </a:rPr>
              <a:t> </a:t>
            </a:r>
            <a:r>
              <a:rPr sz="1600" b="0">
                <a:solidFill>
                  <a:srgbClr val="44546a"/>
                </a:solidFill>
                <a:latin typeface="LG스마트체2.0 Regular"/>
                <a:ea typeface="LG스마트체2.0 Regular"/>
                <a:cs typeface="LG스마트체2.0 Regular"/>
              </a:rPr>
              <a:t>https://github.com/winbo121/vibeCoding</a:t>
            </a:r>
            <a:endParaRPr sz="1600" b="0">
              <a:solidFill>
                <a:srgbClr val="44546a"/>
              </a:solidFill>
              <a:latin typeface="LG스마트체2.0 Regular"/>
              <a:ea typeface="LG스마트체2.0 Regular"/>
              <a:cs typeface="LG스마트체2.0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46701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환경 설정 → 업무 흐름 → 화면 → 느낀점 순으로 적었습니다.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380000"/>
            <a:ext cx="9100000" cy="112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0000" y="1580000"/>
            <a:ext cx="860000" cy="720000"/>
          </a:xfrm>
          <a:prstGeom prst="roundRect">
            <a:avLst/>
          </a:prstGeom>
          <a:solidFill>
            <a:srgbClr val="FDF3D6"/>
          </a:solidFill>
          <a:ln w="12700">
            <a:solidFill>
              <a:srgbClr val="F0AB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1660000"/>
            <a:ext cx="860000" cy="520000"/>
          </a:xfrm>
          <a:prstGeom prst="rect">
            <a:avLst/>
          </a:prstGeom>
          <a:noFill/>
        </p:spPr>
        <p:txBody>
          <a:bodyPr wrap="square" anchor="ctr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1600000"/>
            <a:ext cx="7300000" cy="40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환경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0000" y="2000000"/>
            <a:ext cx="7300000" cy="36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5B5B"/>
                </a:solidFill>
                <a:latin typeface="LG스마트체2.0 Regular"/>
                <a:ea typeface="LG스마트체2.0 Regular"/>
                <a:cs typeface="LG스마트체2.0 Regular"/>
              </a:rPr>
              <a:t>실행 환경, 환경 변수, 라이브러리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00" y="2620000"/>
            <a:ext cx="9100000" cy="112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000" y="2820000"/>
            <a:ext cx="860000" cy="720000"/>
          </a:xfrm>
          <a:prstGeom prst="roundRect">
            <a:avLst/>
          </a:prstGeom>
          <a:solidFill>
            <a:srgbClr val="FDF3D6"/>
          </a:solidFill>
          <a:ln w="12700">
            <a:solidFill>
              <a:srgbClr val="F0AB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" y="2900000"/>
            <a:ext cx="860000" cy="520000"/>
          </a:xfrm>
          <a:prstGeom prst="rect">
            <a:avLst/>
          </a:prstGeom>
          <a:noFill/>
        </p:spPr>
        <p:txBody>
          <a:bodyPr wrap="square" anchor="ctr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0000" y="2840000"/>
            <a:ext cx="7300000" cy="40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업무 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0000" y="3240000"/>
            <a:ext cx="7300000" cy="36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5B5B"/>
                </a:solidFill>
                <a:latin typeface="LG스마트체2.0 Regular"/>
                <a:ea typeface="LG스마트체2.0 Regular"/>
                <a:cs typeface="LG스마트체2.0 Regular"/>
              </a:rPr>
              <a:t>로그인 후 관리자 / 일반이 어떻게 갈리는지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000" y="3860000"/>
            <a:ext cx="9100000" cy="112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000" y="4060000"/>
            <a:ext cx="860000" cy="720000"/>
          </a:xfrm>
          <a:prstGeom prst="roundRect">
            <a:avLst/>
          </a:prstGeom>
          <a:solidFill>
            <a:srgbClr val="FDF3D6"/>
          </a:solidFill>
          <a:ln w="12700">
            <a:solidFill>
              <a:srgbClr val="F0AB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" y="4140000"/>
            <a:ext cx="860000" cy="520000"/>
          </a:xfrm>
          <a:prstGeom prst="rect">
            <a:avLst/>
          </a:prstGeom>
          <a:noFill/>
        </p:spPr>
        <p:txBody>
          <a:bodyPr wrap="square" anchor="ctr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0000" y="4080000"/>
            <a:ext cx="7300000" cy="40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0000" y="4480000"/>
            <a:ext cx="7300000" cy="36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5B5B"/>
                </a:solidFill>
                <a:latin typeface="LG스마트체2.0 Regular"/>
                <a:ea typeface="LG스마트체2.0 Regular"/>
                <a:cs typeface="LG스마트체2.0 Regular"/>
              </a:rPr>
              <a:t>관리자 캡처, 일반 사용자 캡처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000" y="5100000"/>
            <a:ext cx="9100000" cy="112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000" y="5300000"/>
            <a:ext cx="860000" cy="720000"/>
          </a:xfrm>
          <a:prstGeom prst="roundRect">
            <a:avLst/>
          </a:prstGeom>
          <a:solidFill>
            <a:srgbClr val="FDF3D6"/>
          </a:solidFill>
          <a:ln w="12700">
            <a:solidFill>
              <a:srgbClr val="F0AB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000" y="5380000"/>
            <a:ext cx="860000" cy="520000"/>
          </a:xfrm>
          <a:prstGeom prst="rect">
            <a:avLst/>
          </a:prstGeom>
          <a:noFill/>
        </p:spPr>
        <p:txBody>
          <a:bodyPr wrap="square" anchor="ctr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0000" y="5320000"/>
            <a:ext cx="7300000" cy="40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느낀점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0000" y="5720000"/>
            <a:ext cx="7300000" cy="36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5B5B"/>
                </a:solidFill>
                <a:latin typeface="LG스마트체2.0 Regular"/>
                <a:ea typeface="LG스마트체2.0 Regular"/>
                <a:cs typeface="LG스마트체2.0 Regular"/>
              </a:rPr>
              <a:t>장점, 단점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환경 설정  ·  실행 환경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API 8000, 화면 5173, DB는 PostgreSQL.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000" y="1500000"/>
            <a:ext cx="290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t" wrap="square" lIns="100000" rIns="80000" tIns="7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이 PC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파이썬 3.13.15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노드 v24.19.0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파이썬은 3.12부터 가능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0000" y="1500000"/>
            <a:ext cx="290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t" wrap="square" lIns="100000" rIns="80000" tIns="7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화면 / API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FastAPI :8000  (/docs)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Vite :5173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경로 /vibecoding/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0" y="1500000"/>
            <a:ext cx="290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t" wrap="square" lIns="100000" rIns="80000" tIns="7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DB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PostgreSQL localhost:5432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DB명 vibecoding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14 이상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000" y="3850000"/>
            <a:ext cx="290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t" wrap="square" lIns="100000" rIns="80000" tIns="7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개발 서버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화면 /api 호출은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localhost:8000 으로 넘김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주소 설정 없으면 이 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0000" y="3850000"/>
            <a:ext cx="290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t" wrap="square" lIns="100000" rIns="80000" tIns="7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톰캣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8080은 선택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빌드 결과 올릴 때만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로컬 개발은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0" y="3850000"/>
            <a:ext cx="290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t" wrap="square" lIns="100000" rIns="80000" tIns="7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로그인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토큰 12시간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만료 시간을 env에 안 넣으면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코드 기본값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환경 설정  ·  환경 변수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비밀번호, API 키 원문은 안 적음. 들어 있는지 여부만.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000" y="1450000"/>
            <a:ext cx="4550000" cy="4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t" wrap="square" lIns="100000" rIns="80000" tIns="7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항상 쓰는 값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DATABASE_URL  데이터베이스 접속 · 설정됨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API_HOST / API_PORT  0.0.0.0 / 8000 · 설정됨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CORS_ORIGINS  5173, 8080 허용 · 설정됨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JWT_SECRET  토큰 서명 · 설정됨, 값은 숨김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UPLOAD_DIR  첨부 폴더 uploads · 설정됨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JOBS_KEYWORDS  검색어 개발자 · 설정됨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JOBS_FETCH_COUNT  한 번에 50건 · 설정됨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OPENAI_MODEL  gpt-4o-mini · 설정됨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50000" y="1450000"/>
            <a:ext cx="4550000" cy="4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t" wrap="square" lIns="100000" rIns="80000" tIns="7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연동 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사람인 키  없음 → 수집 불가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사람인 주소  있음 / 직무코드는 비움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잡코리아 주소  없음 → 수집 불가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오픈AI 키  없음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키 없으면 스택 변환은 내장 사전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예) 파이썬 → Python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카카오 키  있음 (값은 생략)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키 있어야 맛집, 주소 검색 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환경 설정  ·  라이브러리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백엔드는 requirements 고정 버전, 화면은 설치 버전.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000" y="1450000"/>
            <a:ext cx="4550000" cy="4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t" wrap="square" lIns="100000" rIns="80000" tIns="7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백엔드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FastAPI 0.128.0  웹 API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Uvicorn 0.40.0  API 서버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SQLAlchemy 2.0.45  테이블 매핑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psycopg 3.2.13  PostgreSQL 연결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Pydantic 2.12.5  요청·응답 검증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pydantic-settings 2.12.0  환경 파일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passlib 1.7.4 / bcrypt 4.2.1  비밀번호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PyJWT 2.10.1  로그인 토큰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httpx 0.28.1  사람인·잡코리아·카카오 호출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50000" y="1450000"/>
            <a:ext cx="4550000" cy="4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t" wrap="square" lIns="100000" rIns="80000" tIns="7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화면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React 19.3.0 / React DOM 19.3.0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React Router 7.18.4  페이지 이동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Bootstrap 5.3.8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React Bootstrap 2.10.10  화면 부품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Bootstrap Icons 1.13.1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Vite 8.3.1  개발 서버·빌드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React 플러그인 6.1.1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oxlint 1.86.0  코드 검사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@types/react 19.3.0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업무 흐름  ·  공통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로그인 되면 권한 보고, 그 사람한테 준 메뉴만 띄움.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1480000"/>
            <a:ext cx="145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첫 화면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기술 통계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20000" y="172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90000" y="1480000"/>
            <a:ext cx="11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로그인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0000" y="172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180000" y="1480000"/>
            <a:ext cx="1100000" cy="620000"/>
          </a:xfrm>
          <a:prstGeom prst="diamond">
            <a:avLst/>
          </a:prstGeom>
          <a:solidFill>
            <a:srgbClr val="FDF3D6"/>
          </a:solidFill>
          <a:ln w="15875">
            <a:solidFill>
              <a:srgbClr val="F0AB00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계정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맞나?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00000" y="172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70000" y="1480000"/>
            <a:ext cx="12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토큰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12시간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90000" y="172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60000" y="1480000"/>
            <a:ext cx="13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배정 메뉴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000" y="2300000"/>
            <a:ext cx="2000000" cy="28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504D"/>
                </a:solidFill>
                <a:latin typeface="LG스마트체 Bold"/>
                <a:ea typeface="LG스마트체 Bold"/>
                <a:cs typeface="LG스마트체 Bold"/>
              </a:rPr>
              <a:t>아니오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000" y="2580000"/>
            <a:ext cx="2200000" cy="560000"/>
          </a:xfrm>
          <a:prstGeom prst="roundRect">
            <a:avLst>
              <a:gd name="adj" fmla="val 12000"/>
            </a:avLst>
          </a:prstGeom>
          <a:solidFill>
            <a:srgbClr val="F8E8E8"/>
          </a:solidFill>
          <a:ln w="15875">
            <a:solidFill>
              <a:srgbClr val="C0504D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로그인 거절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비밀번호 오류 · 비활성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0000" y="2300000"/>
            <a:ext cx="2000000" cy="28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예, 권한에 따라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0" y="2680000"/>
            <a:ext cx="2800000" cy="620000"/>
          </a:xfrm>
          <a:prstGeom prst="roundRect">
            <a:avLst>
              <a:gd name="adj" fmla="val 120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G스마트체 Bold"/>
                <a:ea typeface="LG스마트체 Bold"/>
                <a:cs typeface="LG스마트체 Bold"/>
              </a:rPr>
              <a:t>관리자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G스마트체 Bold"/>
                <a:ea typeface="LG스마트체 Bold"/>
                <a:cs typeface="LG스마트체 Bold"/>
              </a:rPr>
              <a:t>사람 · 메뉴 · 공고 수집 · 현재 위치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0000" y="2680000"/>
            <a:ext cx="2800000" cy="620000"/>
          </a:xfrm>
          <a:prstGeom prst="roundRect">
            <a:avLst>
              <a:gd name="adj" fmla="val 12000"/>
            </a:avLst>
          </a:prstGeom>
          <a:solidFill>
            <a:srgbClr val="1F6B64"/>
          </a:solidFill>
          <a:ln w="12700">
            <a:solidFill>
              <a:srgbClr val="1F6B64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G스마트체 Bold"/>
                <a:ea typeface="LG스마트체 Bold"/>
                <a:cs typeface="LG스마트체 Bold"/>
              </a:rPr>
              <a:t>일반 사용자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G스마트체 Bold"/>
                <a:ea typeface="LG스마트체 Bold"/>
                <a:cs typeface="LG스마트체 Bold"/>
              </a:rPr>
              <a:t>내 기술 · 회사 맛집 · 출퇴근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" y="3550000"/>
            <a:ext cx="9300000" cy="28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LG스마트체 Bold"/>
                <a:ea typeface="LG스마트체 Bold"/>
                <a:cs typeface="LG스마트체 Bold"/>
              </a:rPr>
              <a:t>로그인 후 둘 다 쓰는 메뉴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000" y="3950000"/>
            <a:ext cx="2200000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프로젝트 분석기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70000" y="416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40000" y="3950000"/>
            <a:ext cx="2400000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게시판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작성자 제한 없음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060000" y="416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0000" y="3950000"/>
            <a:ext cx="2500000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자주 묻는 질문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권한 차이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000" y="4800000"/>
            <a:ext cx="9300000" cy="150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첫 화면 스택 비율은 로그인 없이 보임. 숫자는 활성 일반 사용자만. 관리자는 제외.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토큰에 번호, 아이디, 권한. 로그아웃하면 첫 화면.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게시판은 내 글 아니어도 수정/삭제 됨. FAQ는 비공개여도 로그인하면 목록에 나옴.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업무 흐름  ·  권한 차이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메뉴 이름이 같아도 보이는 버튼이 다름.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000" y="1450000"/>
            <a:ext cx="4550000" cy="50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0000" y="1450000"/>
            <a:ext cx="4550000" cy="520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0000" y="1520000"/>
            <a:ext cx="4550000" cy="400000"/>
          </a:xfrm>
          <a:prstGeom prst="rect">
            <a:avLst/>
          </a:prstGeom>
          <a:noFill/>
        </p:spPr>
        <p:txBody>
          <a:bodyPr wrap="square" anchor="ctr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LG스마트체 Bold"/>
                <a:ea typeface="LG스마트체 Bold"/>
                <a:cs typeface="LG스마트체 Bold"/>
              </a:rPr>
              <a:t>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" y="2150000"/>
            <a:ext cx="415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사용자 등록, 수정, 삭제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내 권한은 못 내리고, 내 계정은 못 지움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메뉴 만들고 사람별로 배정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일반한테 관리 메뉴는 안 줌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내 정보는 이름, 이메일만. 개발 프로필은 비움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채용은 전체 목록. 공고 수집도 여기서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맛집은 브라우저 현재 위치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50000" y="1450000"/>
            <a:ext cx="4550000" cy="50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B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50000" y="1450000"/>
            <a:ext cx="4550000" cy="520000"/>
          </a:xfrm>
          <a:prstGeom prst="rect">
            <a:avLst/>
          </a:prstGeom>
          <a:solidFill>
            <a:srgbClr val="1F6B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0000" y="1520000"/>
            <a:ext cx="4550000" cy="400000"/>
          </a:xfrm>
          <a:prstGeom prst="rect">
            <a:avLst/>
          </a:prstGeom>
          <a:noFill/>
        </p:spPr>
        <p:txBody>
          <a:bodyPr wrap="square" anchor="ctr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LG스마트체 Bold"/>
                <a:ea typeface="LG스마트체 Bold"/>
                <a:cs typeface="LG스마트체 Bold"/>
              </a:rPr>
              <a:t>일반 사용자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0000" y="2150000"/>
            <a:ext cx="415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사용자관리, 메뉴관리 안 보임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주소 직접 쳐도 첫 화면으로 감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내 정보에 년차, 스택, 성별, 회사, 집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스택 있으면 맞는 공고가 기본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집주소 있으면 회사까지 거리, 시간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공고 수집 버튼 없음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lr>
                <a:srgbClr val="F0AB00"/>
              </a:buClr>
              <a:buFont typeface="Arial"/>
              <a:buChar char="■"/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맛집은 현직장 있을 때만. 회사 위치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업무 흐름  ·  관리자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사람/메뉴 관리, 공고 수집, 맛집은 현재 위치.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0000" y="1420000"/>
            <a:ext cx="15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사용자 목록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60000" y="161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30000" y="1420000"/>
            <a:ext cx="9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등록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50000" y="161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020000" y="1420000"/>
            <a:ext cx="900000" cy="520000"/>
          </a:xfrm>
          <a:prstGeom prst="diamond">
            <a:avLst/>
          </a:prstGeom>
          <a:solidFill>
            <a:srgbClr val="FDF3D6"/>
          </a:solidFill>
          <a:ln w="15875">
            <a:solidFill>
              <a:srgbClr val="F0AB00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권한?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40000" y="161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0000" y="1420000"/>
            <a:ext cx="28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일반은 프로필 저장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관리자는 프로필 비움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000" y="2100000"/>
            <a:ext cx="10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수정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260000" y="229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30000" y="2100000"/>
            <a:ext cx="19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본인 권한은 유지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50000" y="229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000" y="2100000"/>
            <a:ext cx="25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관리자로 바꾸면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개발 프로필 삭제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000" y="2780000"/>
            <a:ext cx="10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삭제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260000" y="297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30000" y="2780000"/>
            <a:ext cx="1900000" cy="520000"/>
          </a:xfrm>
          <a:prstGeom prst="roundRect">
            <a:avLst>
              <a:gd name="adj" fmla="val 12000"/>
            </a:avLst>
          </a:prstGeom>
          <a:solidFill>
            <a:srgbClr val="F8E8E8"/>
          </a:solidFill>
          <a:ln w="15875">
            <a:solidFill>
              <a:srgbClr val="C0504D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본인 계정은 제외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350000" y="297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0000" y="2780000"/>
            <a:ext cx="19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활성을 끄면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로그인 차단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0000" y="3460000"/>
            <a:ext cx="14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메뉴 편집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660000" y="365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30000" y="3460000"/>
            <a:ext cx="17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사용자별 배정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550000" y="365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20000" y="3460000"/>
            <a:ext cx="2000000" cy="520000"/>
          </a:xfrm>
          <a:prstGeom prst="roundRect">
            <a:avLst>
              <a:gd name="adj" fmla="val 12000"/>
            </a:avLst>
          </a:prstGeom>
          <a:solidFill>
            <a:srgbClr val="F8E8E8"/>
          </a:solidFill>
          <a:ln w="15875">
            <a:solidFill>
              <a:srgbClr val="C0504D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일반에게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관리 메뉴 거절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0000" y="4140000"/>
            <a:ext cx="14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전체 공고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660000" y="433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30000" y="4140000"/>
            <a:ext cx="13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검색·출처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150000" y="433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20000" y="4140000"/>
            <a:ext cx="20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샘플·사람인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잡코리아 수집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0000" y="4820000"/>
            <a:ext cx="14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맛집 메뉴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660000" y="501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30000" y="4820000"/>
            <a:ext cx="16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브라우저 위치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450000" y="501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20000" y="4820000"/>
            <a:ext cx="170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현재 위치 반경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0000" y="5550000"/>
            <a:ext cx="9400000" cy="90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내 정보는 이름, 이메일만. 년차·스택·성별·회사·집은 관리자 계정에 안 남김.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사람인 키, 잡코리아 주소 없으면 그 수집 버튼은 비활성. 매칭 점수, 출퇴근은 안 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업무 흐름  ·  일반 사용자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스택, 회사, 집 넣어야 맞춤 공고랑 맛집, 출퇴근이 나옴.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0000" y="1450000"/>
            <a:ext cx="16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배정된 메뉴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60000" y="169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30000" y="1450000"/>
            <a:ext cx="19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관리 메뉴 숨김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50000" y="169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20000" y="1450000"/>
            <a:ext cx="1900000" cy="620000"/>
          </a:xfrm>
          <a:prstGeom prst="roundRect">
            <a:avLst>
              <a:gd name="adj" fmla="val 12000"/>
            </a:avLst>
          </a:prstGeom>
          <a:solidFill>
            <a:srgbClr val="F8E8E8"/>
          </a:solidFill>
          <a:ln w="15875">
            <a:solidFill>
              <a:srgbClr val="C0504D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직접 열어도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첫 화면</a:t>
            </a:r>
          </a:p>
        </p:txBody>
      </p:sp>
      <p:sp>
        <p:nvSpPr>
          <p:cNvPr id="9" name="Diamond 8"/>
          <p:cNvSpPr/>
          <p:nvPr/>
        </p:nvSpPr>
        <p:spPr>
          <a:xfrm>
            <a:off x="240000" y="2230000"/>
            <a:ext cx="1100000" cy="620000"/>
          </a:xfrm>
          <a:prstGeom prst="diamond">
            <a:avLst/>
          </a:prstGeom>
          <a:solidFill>
            <a:srgbClr val="FDF3D6"/>
          </a:solidFill>
          <a:ln w="15875">
            <a:solidFill>
              <a:srgbClr val="F0AB00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현직장?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360000" y="247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30000" y="2230000"/>
            <a:ext cx="2000000" cy="620000"/>
          </a:xfrm>
          <a:prstGeom prst="roundRect">
            <a:avLst>
              <a:gd name="adj" fmla="val 12000"/>
            </a:avLst>
          </a:prstGeom>
          <a:solidFill>
            <a:srgbClr val="F8E8E8"/>
          </a:solidFill>
          <a:ln w="15875">
            <a:solidFill>
              <a:srgbClr val="C0504D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없음 → 맛집 숨김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50000" y="247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20000" y="2230000"/>
            <a:ext cx="24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있음 → 회사 좌표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주변 음식점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0000" y="3010000"/>
            <a:ext cx="12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내 정보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460000" y="325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30000" y="3010000"/>
            <a:ext cx="24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년차·스택·성별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현직장·집주소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0000" y="325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20000" y="3010000"/>
            <a:ext cx="18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한글 스택을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영문으로</a:t>
            </a:r>
          </a:p>
        </p:txBody>
      </p:sp>
      <p:sp>
        <p:nvSpPr>
          <p:cNvPr id="19" name="Diamond 18"/>
          <p:cNvSpPr/>
          <p:nvPr/>
        </p:nvSpPr>
        <p:spPr>
          <a:xfrm>
            <a:off x="240000" y="3790000"/>
            <a:ext cx="1000000" cy="620000"/>
          </a:xfrm>
          <a:prstGeom prst="diamond">
            <a:avLst/>
          </a:prstGeom>
          <a:solidFill>
            <a:srgbClr val="FDF3D6"/>
          </a:solidFill>
          <a:ln w="15875">
            <a:solidFill>
              <a:srgbClr val="F0AB00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스택?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260000" y="403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30000" y="3790000"/>
            <a:ext cx="25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있음 → 맞춤 공고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점수 높은 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50000" y="403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20000" y="3790000"/>
            <a:ext cx="23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없음 → 전체 공고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등록 안내</a:t>
            </a:r>
          </a:p>
        </p:txBody>
      </p:sp>
      <p:sp>
        <p:nvSpPr>
          <p:cNvPr id="24" name="Diamond 23"/>
          <p:cNvSpPr/>
          <p:nvPr/>
        </p:nvSpPr>
        <p:spPr>
          <a:xfrm>
            <a:off x="240000" y="4570000"/>
            <a:ext cx="1100000" cy="620000"/>
          </a:xfrm>
          <a:prstGeom prst="diamond">
            <a:avLst/>
          </a:prstGeom>
          <a:solidFill>
            <a:srgbClr val="FDF3D6"/>
          </a:solidFill>
          <a:ln w="15875">
            <a:solidFill>
              <a:srgbClr val="F0AB00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집주소?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360000" y="481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30000" y="4570000"/>
            <a:ext cx="20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있음 → 거리·시간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550000" y="4815000"/>
            <a:ext cx="150000" cy="1300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720000" y="4570000"/>
            <a:ext cx="18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wrap="square" lIns="40000" rIns="400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LG스마트체 Bold"/>
                <a:ea typeface="LG스마트체 Bold"/>
                <a:cs typeface="LG스마트체 Bold"/>
              </a:rPr>
              <a:t>없음 → 안내만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000" y="5400000"/>
            <a:ext cx="9400000" cy="100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‘내 스택 맞춤만’ 끄면 전체 공고. 맞는 건수는 따로 표시.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공고 가져오기는 일반 계정에 없음. 분석기, 게시판, FAQ는 관리자랑 같음.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관리자 로그인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관리자 계정으로 들어감. 틀리거나 비활성이면 여기서 끝.</a:t>
            </a:r>
          </a:p>
        </p:txBody>
      </p:sp>
      <p:sp>
        <p:nvSpPr>
          <p:cNvPr id="4" name="Rectangle 3"/>
          <p:cNvSpPr/>
          <p:nvPr/>
        </p:nvSpPr>
        <p:spPr>
          <a:xfrm>
            <a:off x="809664" y="1308000"/>
            <a:ext cx="8286672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64" y="1320000"/>
            <a:ext cx="8262672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로그인 전이라 위 메뉴는 없음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아이디, 비밀번호 넣고 로그인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화면에 기본 계정 안내가 있음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비밀번호 불일치, 비활성 계정은 거절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되면 번호, 아이디, 권한이 든 토큰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유지 시간 12시간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관리자 첫 화면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관리자만 사용자관리, 메뉴관리가 위에 붙음.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7858" y="1308000"/>
            <a:ext cx="7590283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58" y="1320000"/>
            <a:ext cx="7566283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오른쪽 배지 관리자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메뉴: 사용자관리, 메뉴관리, 분석기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입사지원, 맛집, 게시판, FAQ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가운데 숫자는 일반 회원 스택 비율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관리자 계정은 집계에서 제외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전체 인원, 스택 등록 인원, 제일 많은 스택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이름 누르면 내 정보. 로그아웃은 첫 화면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관리자 내 정보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관리자 내 정보는 이름, 이메일만.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2037" y="1308000"/>
            <a:ext cx="8621926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37" y="1320000"/>
            <a:ext cx="8597926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아이디, 이름, 이메일만 있음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년차, 스택, 성별, 회사, 집은 이 계정에서 안 씀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저장해도 그 항목은 비워 둠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아이디는 여기서 안 바꿈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맞춤 공고, 맛집, 출퇴근 대상 아님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사용자 관리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사용자 등록/수정. 일반이면 프로필 넣고, 관리자면 비움.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720" y="1308000"/>
            <a:ext cx="8664559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20" y="1320000"/>
            <a:ext cx="8640559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왼쪽 수정, 오른쪽 목록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일반이면 년차, 스택, 성별, 회사, 집 입력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스택은 한글로 찾아도 저장 때 영문으로 바꿈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관리자로 바꾸면 프로필 지움. 목록은 -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지금 로그인한 관리자 본인 권한은 못 내림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행마다 수정, 삭제. 내 계정 삭제는 막음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직장과 집주소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일반 사용자 수정할 때 회사, 집을 카카오에서 고름.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495" y="1308000"/>
            <a:ext cx="7467009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495" y="1320000"/>
            <a:ext cx="7443009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수정 화면 아래. 현직장, 집주소 따로 검색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결과 하나 고르면 그 장소로 저장, 지도에 표시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회사 1곳, 집 1곳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일반 사용자 맛집, 출퇴근에 이 주소 사용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관리자 본인 내 정보에는 이 칸 없음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활성 끄면 그 계정 로그인 안 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메뉴 관리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메뉴 만들고, 사람마다 체크해서 저장.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30" y="1308000"/>
            <a:ext cx="7676739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30" y="1320000"/>
            <a:ext cx="7652739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코드, 이름, 경로, 정렬, 설명, 사용 여부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사용 안 함이면 위 메뉴에서 빠짐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오른쪽에서 사용자 고르고 메뉴 체크 → 권한 저장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일반에게 관리 메뉴는 체크해도 거절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관리자한테는 그 메뉴 배정 가능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아래 목록에서 메뉴 수정, 삭제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관리자 입사지원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필터 없이 전체 공고. 수집 버튼은 여기만.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7900" y="1308000"/>
            <a:ext cx="7330200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900" y="1320000"/>
            <a:ext cx="7306200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관리자는 스택 맞춤 없이 전체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제목, 회사, 기술, 지역, 출처로 조회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샘플, 사람인, 잡코리아, 공식 API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동기화는 관리자만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키나 호출 주소 없으면 그 버튼은 안 눌림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같은 출처+외부번호는 한 건으로 유지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매칭 점수, 출퇴근은 이 목록에 없음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공고 상세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상세에 지역, 경력, 기술, 본문, 원문 링크.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8086" y="1308000"/>
            <a:ext cx="7789828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86" y="1320000"/>
            <a:ext cx="7765828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목록에서 상세 → 가운데 창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회사, 지역, 경력, 고용형태, 게시일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기술, 요약, 하는 일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원문 사이트로 채용 페이지. 닫으면 목록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관리자 상세에는 매칭, 출퇴근 없음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일반이 스택, 집을 넣었을 때만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일반 사용자 로그인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같은 로그인 화면. 일반 계정으로 들어가면 메뉴가 달라짐.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3737" y="1308000"/>
            <a:ext cx="8258526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37" y="1320000"/>
            <a:ext cx="8234526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로그인 화면 자체는 관리자랑 같음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일반 아이디면 토큰 권한이 일반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비활성이면 비밀번호가 맞아도 안 들어감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위 메뉴는 그 사람한테 배정된 것만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사용자관리, 메뉴관리는 배정돼 있어도 숨김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일반 사용자 첫 화면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관리 메뉴 없음. 배지는 일반. 스택 통계는 같음.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8934" y="1308000"/>
            <a:ext cx="7648132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934" y="1320000"/>
            <a:ext cx="7624132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메뉴: 분석기, 입사지원, 맛집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게시판, FAQ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사용자관리, 메뉴관리 없음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배지 일반. 옆 이름은 내 정보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스택 비율 집계는 관리자 화면과 동일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현직장 없으면 맛집 메뉴도 빠짐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이 계정은 회사 있어서 맛집이 보임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내 정보의 기술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년차, 스택, 성별. 이게 채용 맞춤에 들어감.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3370" y="1308000"/>
            <a:ext cx="7599259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370" y="1320000"/>
            <a:ext cx="7575259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아이디 고정. 이름, 이메일은 수정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년차, 스택, 성별, 회사, 집은 일반만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스택은 한글/영문 검색. 예) Python, Java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저장하면 영문. 키 없으면 내장 사전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이 값이 공고 매칭, 맞춤 필터에 사용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현직장과 집주소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회사는 맛집 중심, 집은 출퇴근 거리.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5402" y="1308000"/>
            <a:ext cx="7455195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402" y="1320000"/>
            <a:ext cx="7431195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현직장, 집 따로 검색해서 지도에서 하나 선택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이 캡처는 회사 코데크시스템, 집 서울은행 진관동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항목당 장소 하나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저장해야 맛집, 출퇴근에 들어감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회사 없으면 맛집 메뉴 숨김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집 없으면 공고는 보이는데 거리, 시간은 안내만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프로젝트 분석기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로컬 경로 넣으면 공통 함수, 빠진 검증/다국어를 셈.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1636" y="1308000"/>
            <a:ext cx="8522728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36" y="1320000"/>
            <a:ext cx="8498728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경로 넣고 분석 실행. 권한 차이 없음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전체·공통 파일, 공통 함수, 화면 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공통 비율, 검증·다국어 적용률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검증 없는 화면, 다국어 없는 화면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아래는 함수 정의 위치랑 사용처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필터: 전체, 여러 화면, 미사용, 검증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분석기 코드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함수 펼치면 파일 경로랑 소스.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6700" y="1308000"/>
            <a:ext cx="8072600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00" y="1320000"/>
            <a:ext cx="8048600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목록 한 줄 열면 본문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정의 파일, 함수명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검증 / 여러 화면 / 미사용 표시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java, js, py 등 소스만 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node_modules 같은 폴더는 제외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로그인만 되면 관리자, 일반 동일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맞춤 채용 공고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내 스택에 맞는 공고만. 집 있으면 출퇴근도 붙음.</a:t>
            </a:r>
          </a:p>
        </p:txBody>
      </p:sp>
      <p:sp>
        <p:nvSpPr>
          <p:cNvPr id="4" name="Rectangle 3"/>
          <p:cNvSpPr/>
          <p:nvPr/>
        </p:nvSpPr>
        <p:spPr>
          <a:xfrm>
            <a:off x="901197" y="1308000"/>
            <a:ext cx="8103606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97" y="1320000"/>
            <a:ext cx="8079606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내 스택 Python, Java. 수정은 내 정보로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집주소 있으면 공고마다 출퇴근 표시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맞춤만 켜짐 → 이 화면은 2건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매칭 점수, 맞은 기술, 거리, 시간, 환승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동기화 버튼 없음. 수집은 관리자만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스위치 끄면 전체 공고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공고 상세와 출퇴근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상세에 출퇴근, 맞은 스택, 원문.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5112" y="1308000"/>
            <a:ext cx="7735776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12" y="1320000"/>
            <a:ext cx="7711776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회사, 지역, 경력, 본문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집 → 회사 거리, 시간, 환승, 도착지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맞은 기술은 배지로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원문 사이트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스택 없으면 전체 목록, 등록 안내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회사 주변 맛집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일반은 현직장 좌표로 반경 검색. 현재 위치 아님.</a:t>
            </a:r>
          </a:p>
        </p:txBody>
      </p:sp>
      <p:sp>
        <p:nvSpPr>
          <p:cNvPr id="4" name="Rectangle 3"/>
          <p:cNvSpPr/>
          <p:nvPr/>
        </p:nvSpPr>
        <p:spPr>
          <a:xfrm>
            <a:off x="888818" y="1308000"/>
            <a:ext cx="8128364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18" y="1320000"/>
            <a:ext cx="8104364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이 캡처 기준은 비즈테크아이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브라우저 위치는 관리자만 씀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반경 바꾸고 다시 찾기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왼쪽 거리순, 오른쪽 카카오 지도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가운데 핀이 회사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현직장 없으면 메뉴 자체 숨김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게시판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글, 첨부. 내 글 아니어도 수정, 삭제 됨.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000" y="1308000"/>
            <a:ext cx="9450000" cy="36532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00" y="1320000"/>
            <a:ext cx="9426000" cy="3629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제목, 내용, 파일 넣고 등록/수정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파일은 uploads. 글 지우면 파일도 삭제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오른쪽 글 고르면 왼쪽에 내용 채워짐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작성자 체크 없음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관리자, 일반 동일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화면  ·  자주 묻는 질문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질문, 답, 정렬, 공개. 권한 차이 없음.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9445" y="1308000"/>
            <a:ext cx="9007110" cy="371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45" y="1320000"/>
            <a:ext cx="8983110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00" y="5080000"/>
            <a:ext cx="9426000" cy="145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질문, 답변, 정렬, 공개 저장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오른쪽에서 수정, 삭제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비공개도 로그인하면 보임. 배지만 변경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관리자, 일반 같은 화면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정렬 숫자 작은 게 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느낀점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장점과 단점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00" y="1450000"/>
            <a:ext cx="9426000" cy="4200000"/>
          </a:xfrm>
          <a:prstGeom prst="rect">
            <a:avLst/>
          </a:prstGeom>
          <a:noFill/>
        </p:spPr>
        <p:txBody>
          <a:bodyPr wrap="square" anchor="t" lIns="40000" rIns="400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장점 : 먼저 2~3주 걸리는것을 2일만에 개발이 가능해져서 시간절약이 됩니다.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코드 짜는 정확도가 100프로이며 센스것 방치된 코드들도 다 정리를 해줍니다.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LG스마트체2.0 Regular"/>
                <a:ea typeface="LG스마트체2.0 Regular"/>
                <a:cs typeface="LG스마트체2.0 Regular"/>
              </a:rPr>
              <a:t>단점 : 개발능력이 점점 퇴화합니다. 그리고 가끔 명령하지도 않는 코드들까지 건들어서 조금 위험할때가있고 깃끼리 충돌이 있을수도 있습니다.</a:t>
            </a:r>
          </a:p>
        </p:txBody>
      </p:sp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2125" y="3156509"/>
            <a:ext cx="8561750" cy="584351"/>
          </a:xfrm>
          <a:prstGeom prst="rect">
            <a:avLst/>
          </a:prstGeom>
        </p:spPr>
        <p:txBody>
          <a:bodyPr wrap="square" lIns="3600" tIns="3600" rIns="3600" bIns="3600">
            <a:spAutoFit/>
          </a:bodyPr>
          <a:lstStyle/>
          <a:p>
            <a:pPr marL="0" marR="0" lvl="0" indent="0" algn="ctr" defTabSz="457200" rtl="0" eaLnBrk="1" latinLnBrk="0" hangingPunct="1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4000" b="0" i="0" u="none" strike="noStrike" kern="1200" cap="none" spc="0" normalizeH="0" baseline="0">
                <a:ln w="9525"/>
                <a:solidFill>
                  <a:prstClr val="black"/>
                </a:solidFill>
                <a:effectLst/>
                <a:uLnTx/>
                <a:uFillTx/>
                <a:latin typeface="LG스마트체 Bold"/>
                <a:ea typeface="LG스마트체 Bold"/>
                <a:cs typeface="+mn-cs"/>
              </a:rPr>
              <a:t>감사합니다</a:t>
            </a:r>
            <a:endParaRPr kumimoji="0" lang="ko-KR" altLang="en-US" sz="4000" b="0" i="0" u="none" strike="noStrike" kern="1200" cap="none" spc="0" normalizeH="0" baseline="0">
              <a:solidFill>
                <a:prstClr val="black"/>
              </a:solidFill>
              <a:latin typeface="LG스마트체 Bold"/>
              <a:ea typeface="LG스마트체 Bol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374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9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  <a:txDef>
      <a:spPr>
        <a:solidFill>
          <a:schemeClr val="bg1"/>
        </a:solidFill>
        <a:ln w="19050">
          <a:solidFill>
            <a:schemeClr val="accent4">
              <a:lumMod val="60000"/>
              <a:lumOff val="40000"/>
            </a:schemeClr>
          </a:solidFill>
        </a:ln>
      </a:spPr>
      <a:bodyPr wrap="square" lIns="72000" tIns="0" rIns="72000" bIns="0" rtlCol="0" anchor="ctr">
        <a:noAutofit/>
      </a:bodyPr>
      <a:lstStyle>
        <a:defPPr algn="ctr">
          <a:defRPr sz="900" b="1" smtClean="0">
            <a:latin typeface="+mj-ea"/>
            <a:ea typeface="+mj-ea"/>
          </a:defRPr>
        </a:defPPr>
      </a:lstStyle>
    </a:tx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1_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1e4e79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LG스마트체 Bold"/>
        <a:ea typeface="LG스마트체 Bold"/>
        <a:cs typeface=""/>
      </a:majorFont>
      <a:minorFont>
        <a:latin typeface="LG스마트체 Light"/>
        <a:ea typeface="LG스마트체 Light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 algn="ctr">
          <a:solidFill>
            <a:srgbClr val="a6a6a6"/>
          </a:solidFill>
          <a:miter/>
        </a:ln>
      </a:spPr>
      <a:bodyPr lIns="67484" tIns="53988" rIns="67484" bIns="53988" rtlCol="0" anchor="ctr"/>
      <a:lstStyle>
        <a:defPPr algn="ctr" defTabSz="914217"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100" kern="0" spc="-46" dirty="0">
            <a:ln w="9525">
              <a:solidFill>
                <a:srgbClr val="5b9bd5">
                  <a:alpha val="0"/>
                </a:srgbClr>
              </a:solidFill>
            </a:ln>
            <a:solidFill>
              <a:srgbClr val="595959"/>
            </a:solidFill>
            <a:latin typeface="KoPub돋움체 Bold"/>
            <a:ea typeface="KoPub돋움체 Bold"/>
          </a:defRPr>
        </a:defPPr>
      </a:lst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3600" tIns="3600" rIns="3600" bIns="3600" rtlCol="0">
        <a:spAutoFit/>
      </a:bodyPr>
      <a:lstStyle>
        <a:defPPr marL="171450" indent="-171450" algn="l" defTabSz="914217" fontAlgn="base">
          <a:lnSpc>
            <a:spcPct val="150000"/>
          </a:lnSpc>
          <a:spcBef>
            <a:spcPct val="50000"/>
          </a:spcBef>
          <a:spcAft>
            <a:spcPct val="0"/>
          </a:spcAft>
          <a:buClr>
            <a:schemeClr val="tx1"/>
          </a:buClr>
          <a:buSzPct val="80000"/>
          <a:buFont typeface="Wingdings"/>
          <a:buChar char="§"/>
          <a:defRPr sz="1200" kern="0" spc="-46" dirty="0" smtClean="0">
            <a:ln w="9525">
              <a:solidFill>
                <a:srgbClr val="5b9bd5">
                  <a:alpha val="0"/>
                </a:srgb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n-ea"/>
          </a:defRPr>
        </a:defPPr>
      </a:lstStyle>
    </a:txDef>
  </a:objectDefaul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LG CNS</ep:Company>
  <ep:Words>552</ep:Words>
  <ep:PresentationFormat>A4 용지(210x297mm)</ep:PresentationFormat>
  <ep:Paragraphs>105</ep:Paragraphs>
  <ep:Slides>30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30</vt:i4>
      </vt:variant>
    </vt:vector>
  </ep:HeadingPairs>
  <ep:TitlesOfParts>
    <vt:vector size="32" baseType="lpstr">
      <vt:lpstr>1_디자인 사용자 지정</vt:lpstr>
      <vt:lpstr>1_Office 테마</vt:lpstr>
      <vt:lpstr>슬라이드 1</vt:lpstr>
      <vt:lpstr>Wingdings</vt:lpstr>
      <vt:lpstr>1_디자인 사용자 지정</vt:lpstr>
      <vt:lpstr>1_Office 테마</vt:lpstr>
      <vt:lpstr>PowerPoint 프레젠테이션</vt:lpstr>
      <vt:lpstr>바이브코딩 구현 워크플로우</vt:lpstr>
      <vt:lpstr>바이브코딩 구현 워크플로우</vt:lpstr>
      <vt:lpstr>바이브코딩 구현 워크플로우</vt:lpstr>
      <vt:lpstr>바이브코딩 구현 워크플로우</vt:lpstr>
      <vt:lpstr>바이브코딩 구현 워크플로우</vt:lpstr>
      <vt:lpstr>구현 후 느낀점</vt:lpstr>
      <vt:lpstr>PowerPoint 프레젠테이션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LG CNS</dc:creator>
  <cp:lastModifiedBy>94102172</cp:lastModifiedBy>
  <dcterms:modified xsi:type="dcterms:W3CDTF">2026-09-30T08:49:19.515</dcterms:modified>
  <cp:revision>13956</cp:revision>
  <dc:title>2004년 업적CM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